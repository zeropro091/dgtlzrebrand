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1200" b="1">
                <a:solidFill>
                  <a:srgbClr val="FFFFFF"/>
                </a:solidFill>
                <a:latin typeface="Courier New"/>
              </a:defRPr>
            </a:pPr>
            <a:r>
              <a:t>DGTLZ RESEARCH PAPER SERIES IN APPLIED DIGITAL TRANSFORMATION — VOL. 4, NO. 2 (2026)</a:t>
            </a:r>
          </a:p>
          <a:p>
            <a:pPr>
              <a:spcAft>
                <a:spcPts val="800"/>
              </a:spcAft>
              <a:defRPr sz="4000" b="1">
                <a:solidFill>
                  <a:srgbClr val="FFFFFF"/>
                </a:solidFill>
                <a:latin typeface="Arial"/>
              </a:defRPr>
            </a:pPr>
            <a:r>
              <a:t>OPTIMALISASI EKOSISTEM DIGITAL OMNICHANNEL</a:t>
            </a:r>
          </a:p>
          <a:p>
            <a:pPr>
              <a:spcAft>
                <a:spcPts val="2400"/>
              </a:spcAft>
              <a:defRPr sz="2000" b="0">
                <a:solidFill>
                  <a:srgbClr val="FFFFFF"/>
                </a:solidFill>
                <a:latin typeface="Arial"/>
              </a:defRPr>
            </a:pPr>
            <a:r>
              <a:t>INTEGRASI DESIGN THINKING, FOGG BEHAVIOR MODEL, DAN FUNNEL AARRR: CRO DAN CAC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75488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FFFFFF"/>
                </a:solidFill>
                <a:latin typeface="Courier New"/>
              </a:defRPr>
            </a:pPr>
            <a:r>
              <a:t>Riset &amp; Development Group DGTLZ Digital Solutions</a:t>
            </a:r>
          </a:p>
          <a:p>
            <a:pPr>
              <a:spcAft>
                <a:spcPts val="400"/>
              </a:spcAft>
              <a:defRPr sz="1200" b="0">
                <a:solidFill>
                  <a:srgbClr val="FFFFFF"/>
                </a:solidFill>
                <a:latin typeface="Courier New"/>
              </a:defRPr>
            </a:pPr>
            <a:r>
              <a:t>Divisi Digital Strategy, Behavioral UX Architecture, &amp; Performance Analytics</a:t>
            </a:r>
          </a:p>
          <a:p>
            <a:pPr>
              <a:spcAft>
                <a:spcPts val="600"/>
              </a:spcAft>
              <a:defRPr sz="1200" b="0">
                <a:solidFill>
                  <a:srgbClr val="FFFFFF"/>
                </a:solidFill>
                <a:latin typeface="Courier New"/>
              </a:defRPr>
            </a:pPr>
            <a:r>
              <a:t>Kontak Korespondensi: research@dgtlz.com | Dipublikasikan: Juli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00F2"/>
          </a:solidFill>
          <a:ln>
            <a:solidFill>
              <a:srgbClr val="0000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Arial"/>
              </a:defRPr>
            </a:pPr>
            <a:r>
              <a:t>LATAR BELAKANG &amp; DIAGNOSIS MASALAH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137160"/>
            <a:ext cx="259049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FFFFFF"/>
                </a:solidFill>
                <a:latin typeface="Courier New"/>
              </a:defRPr>
            </a:pPr>
            <a:r>
              <a:t>REF: DIAG-01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0000F2"/>
          </a:solidFill>
          <a:ln>
            <a:solidFill>
              <a:srgbClr val="0000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46304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0000F2"/>
                </a:solidFill>
                <a:latin typeface="Arial"/>
              </a:defRPr>
            </a:pPr>
            <a:r>
              <a:t>FENOMENA LEAKY BUCKET SYNDROME</a:t>
            </a:r>
          </a:p>
          <a:p>
            <a:pPr>
              <a:spcAft>
                <a:spcPts val="1000"/>
              </a:spcAft>
              <a:defRPr sz="1300" b="0">
                <a:solidFill>
                  <a:srgbClr val="1A1B25"/>
                </a:solidFill>
                <a:latin typeface="Courier New"/>
              </a:defRPr>
            </a:pPr>
            <a:r>
              <a:t>- Alokasi anggaran iklan yang besar (Meta, Google PMax, TikTok) tidak terkonversi secara optimal akibat tingginya friksi pada touchpoint digital.</a:t>
            </a:r>
          </a:p>
          <a:p>
            <a:pPr>
              <a:spcAft>
                <a:spcPts val="1000"/>
              </a:spcAft>
              <a:defRPr sz="1300" b="0">
                <a:solidFill>
                  <a:srgbClr val="1A1B25"/>
                </a:solidFill>
                <a:latin typeface="Courier New"/>
              </a:defRPr>
            </a:pPr>
            <a:r>
              <a:t>- Rata-rata tingkat penelantaran keranjang belanja (Cart Abandonment Rate) global berkisar antara 68% hingga 75% (Baymard Institute, 2025).</a:t>
            </a:r>
          </a:p>
          <a:p>
            <a:pPr>
              <a:spcAft>
                <a:spcPts val="1000"/>
              </a:spcAft>
              <a:defRPr sz="1300" b="0">
                <a:solidFill>
                  <a:srgbClr val="1A1B25"/>
                </a:solidFill>
                <a:latin typeface="Courier New"/>
              </a:defRPr>
            </a:pPr>
            <a:r>
              <a:t>- Permasalahan utama bukan pada motivasi konsumen melainkan pada beban kognitif dan hambatan operasional saat checkout.</a:t>
            </a:r>
          </a:p>
        </p:txBody>
      </p:sp>
      <p:sp>
        <p:nvSpPr>
          <p:cNvPr id="7" name="Rectangle 6"/>
          <p:cNvSpPr/>
          <p:nvPr/>
        </p:nvSpPr>
        <p:spPr>
          <a:xfrm>
            <a:off x="6172200" y="1463040"/>
            <a:ext cx="5303520" cy="13716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spcAft>
                <a:spcPts val="400"/>
              </a:spcAft>
              <a:defRPr sz="1300" b="1">
                <a:solidFill>
                  <a:srgbClr val="0000F2"/>
                </a:solidFill>
                <a:latin typeface="Arial"/>
              </a:defRPr>
            </a:pPr>
            <a:r>
              <a:t>HIGH CHECKOUT FRICTION</a:t>
            </a:r>
          </a:p>
          <a:p>
            <a:pPr>
              <a:spcAft>
                <a:spcPts val="0"/>
              </a:spcAft>
              <a:defRPr sz="1100" b="0">
                <a:solidFill>
                  <a:srgbClr val="1A1B25"/>
                </a:solidFill>
                <a:latin typeface="Courier New"/>
              </a:defRPr>
            </a:pPr>
            <a:r>
              <a:t>Formulir pemesanan awal mengharuskan pengisian 12 kolom masukan redundan yang memperlambat transaksi.</a:t>
            </a:r>
          </a:p>
        </p:txBody>
      </p:sp>
      <p:sp>
        <p:nvSpPr>
          <p:cNvPr id="8" name="Rectangle 7"/>
          <p:cNvSpPr/>
          <p:nvPr/>
        </p:nvSpPr>
        <p:spPr>
          <a:xfrm>
            <a:off x="6172200" y="3063240"/>
            <a:ext cx="5303520" cy="13716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spcAft>
                <a:spcPts val="400"/>
              </a:spcAft>
              <a:defRPr sz="1300" b="1">
                <a:solidFill>
                  <a:srgbClr val="0000F2"/>
                </a:solidFill>
                <a:latin typeface="Arial"/>
              </a:defRPr>
            </a:pPr>
            <a:r>
              <a:t>LACK OF MOBILE ERGONOMICS</a:t>
            </a:r>
          </a:p>
          <a:p>
            <a:pPr>
              <a:spcAft>
                <a:spcPts val="0"/>
              </a:spcAft>
              <a:defRPr sz="1100" b="0">
                <a:solidFill>
                  <a:srgbClr val="1A1B25"/>
                </a:solidFill>
                <a:latin typeface="Courier New"/>
              </a:defRPr>
            </a:pPr>
            <a:r>
              <a:t>Tombol 'Checkout' utama pada versi seluler berada di luar jangkauan ibu jari alami (melanggar Hukum Fitts).</a:t>
            </a:r>
          </a:p>
        </p:txBody>
      </p:sp>
      <p:sp>
        <p:nvSpPr>
          <p:cNvPr id="9" name="Rectangle 8"/>
          <p:cNvSpPr/>
          <p:nvPr/>
        </p:nvSpPr>
        <p:spPr>
          <a:xfrm>
            <a:off x="6172200" y="4663440"/>
            <a:ext cx="5303520" cy="13716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spcAft>
                <a:spcPts val="400"/>
              </a:spcAft>
              <a:defRPr sz="1300" b="1">
                <a:solidFill>
                  <a:srgbClr val="0000F2"/>
                </a:solidFill>
                <a:latin typeface="Arial"/>
              </a:defRPr>
            </a:pPr>
            <a:r>
              <a:t>BROAD-TARGETING MISALIGNMENT</a:t>
            </a:r>
          </a:p>
          <a:p>
            <a:pPr>
              <a:spcAft>
                <a:spcPts val="0"/>
              </a:spcAft>
              <a:defRPr sz="1100" b="0">
                <a:solidFill>
                  <a:srgbClr val="1A1B25"/>
                </a:solidFill>
                <a:latin typeface="Courier New"/>
              </a:defRPr>
            </a:pPr>
            <a:r>
              <a:t>Iklan berbayar didominasi oleh target audiens luas tanpa filter intent, memicu bounce rate 68% di landing page.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00F2"/>
          </a:solidFill>
          <a:ln>
            <a:solidFill>
              <a:srgbClr val="0000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Arial"/>
              </a:defRPr>
            </a:pPr>
            <a:r>
              <a:t>KERANGKA KERJA TERPADU (FRAMEWORK)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137160"/>
            <a:ext cx="259049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FFFFFF"/>
                </a:solidFill>
                <a:latin typeface="Courier New"/>
              </a:defRPr>
            </a:pPr>
            <a:r>
              <a:t>REF: FRAME-02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0000F2"/>
          </a:solidFill>
          <a:ln>
            <a:solidFill>
              <a:srgbClr val="0000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46304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0000F2"/>
                </a:solidFill>
                <a:latin typeface="Arial"/>
              </a:defRPr>
            </a:pPr>
            <a:r>
              <a:t>BJ FOGG BEHAVIOR MODEL (B = M * A * P)</a:t>
            </a:r>
          </a:p>
          <a:p>
            <a:pPr>
              <a:spcAft>
                <a:spcPts val="1200"/>
              </a:spcAft>
              <a:defRPr sz="1300" b="0">
                <a:solidFill>
                  <a:srgbClr val="1A1B25"/>
                </a:solidFill>
                <a:latin typeface="Courier New"/>
              </a:defRPr>
            </a:pPr>
            <a:r>
              <a:t>Perilaku target (B) hanya akan terjadi jika tiga elemen hadir bersamaan pada satu momen waktu:</a:t>
            </a:r>
          </a:p>
          <a:p>
            <a:pPr>
              <a:spcAft>
                <a:spcPts val="800"/>
              </a:spcAft>
              <a:defRPr sz="1200" b="0">
                <a:solidFill>
                  <a:srgbClr val="1A1B25"/>
                </a:solidFill>
                <a:latin typeface="Courier New"/>
              </a:defRPr>
            </a:pPr>
            <a:r>
              <a:t>• MOTIVATION (M) - Kebutuhan/keinginan (insentif finansial/diskon bersifat fluktuatif &amp; memotong margin).</a:t>
            </a:r>
          </a:p>
          <a:p>
            <a:pPr>
              <a:spcAft>
                <a:spcPts val="800"/>
              </a:spcAft>
              <a:defRPr sz="1200" b="0">
                <a:solidFill>
                  <a:srgbClr val="1A1B25"/>
                </a:solidFill>
                <a:latin typeface="Courier New"/>
              </a:defRPr>
            </a:pPr>
            <a:r>
              <a:t>• ABILITY (A) - Kemudahan tindakan (fokus utama riset: memotong kolom checkout &amp; meningkatkan usability).</a:t>
            </a:r>
          </a:p>
          <a:p>
            <a:pPr>
              <a:spcAft>
                <a:spcPts val="1200"/>
              </a:spcAft>
              <a:defRPr sz="1200" b="0">
                <a:solidFill>
                  <a:srgbClr val="1A1B25"/>
                </a:solidFill>
                <a:latin typeface="Courier New"/>
              </a:defRPr>
            </a:pPr>
            <a:r>
              <a:t>• PROMPT (P) - Pemicu/sinyal (iklan retargeting dinamis dan waktu pengiriman notifikasi yang tepat).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72200" y="146304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0000F2"/>
                </a:solidFill>
                <a:latin typeface="Arial"/>
              </a:defRPr>
            </a:pPr>
            <a:r>
              <a:t>INTEGRASI METODOLOGI LAIN</a:t>
            </a:r>
          </a:p>
          <a:p>
            <a:pPr>
              <a:spcAft>
                <a:spcPts val="400"/>
              </a:spcAft>
              <a:defRPr sz="1300" b="1">
                <a:solidFill>
                  <a:srgbClr val="0000F2"/>
                </a:solidFill>
                <a:latin typeface="Arial"/>
              </a:defRPr>
            </a:pPr>
            <a:r>
              <a:t>1. DESIGN THINKING FRAMEWORK (HPI)</a:t>
            </a:r>
          </a:p>
          <a:p>
            <a:pPr>
              <a:spcAft>
                <a:spcPts val="1200"/>
              </a:spcAft>
              <a:defRPr sz="1200" b="0">
                <a:solidFill>
                  <a:srgbClr val="1A1B25"/>
                </a:solidFill>
                <a:latin typeface="Courier New"/>
              </a:defRPr>
            </a:pPr>
            <a:r>
              <a:t>Melalui siklus Empathize (rekaman sesi), Define (problem statement), Ideate (antarmuka), Prototype, dan Usability Testing.</a:t>
            </a:r>
          </a:p>
          <a:p>
            <a:pPr>
              <a:spcAft>
                <a:spcPts val="400"/>
              </a:spcAft>
              <a:defRPr sz="1300" b="1">
                <a:solidFill>
                  <a:srgbClr val="0000F2"/>
                </a:solidFill>
                <a:latin typeface="Arial"/>
              </a:defRPr>
            </a:pPr>
            <a:r>
              <a:t>2. AARRR PIRATE METRICS FUNNEL</a:t>
            </a:r>
          </a:p>
          <a:p>
            <a:pPr>
              <a:spcAft>
                <a:spcPts val="1200"/>
              </a:spcAft>
              <a:defRPr sz="1200" b="0">
                <a:solidFill>
                  <a:srgbClr val="1A1B25"/>
                </a:solidFill>
                <a:latin typeface="Courier New"/>
              </a:defRPr>
            </a:pPr>
            <a:r>
              <a:t>Mengklasifikasikan hubungan pengguna menjadi 5 fase sistematis: Acquisition, Activation, Retention, Revenue, dan Referral.</a:t>
            </a:r>
          </a:p>
          <a:p>
            <a:pPr>
              <a:spcAft>
                <a:spcPts val="400"/>
              </a:spcAft>
              <a:defRPr sz="1300" b="1">
                <a:solidFill>
                  <a:srgbClr val="0000F2"/>
                </a:solidFill>
                <a:latin typeface="Arial"/>
              </a:defRPr>
            </a:pPr>
            <a:r>
              <a:t>3. HUKUM FITTS (FITTS'S LAW)</a:t>
            </a:r>
          </a:p>
          <a:p>
            <a:pPr>
              <a:spcAft>
                <a:spcPts val="600"/>
              </a:spcAft>
              <a:defRPr sz="1200" b="0">
                <a:solidFill>
                  <a:srgbClr val="1A1B25"/>
                </a:solidFill>
                <a:latin typeface="Courier New"/>
              </a:defRPr>
            </a:pPr>
            <a:r>
              <a:t>Mempercepat pergerakan dengan mengoptimalkan jarak (D) dan ukuran (W) tombol checkout.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00F2"/>
          </a:solidFill>
          <a:ln>
            <a:solidFill>
              <a:srgbClr val="0000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Arial"/>
              </a:defRPr>
            </a:pPr>
            <a:r>
              <a:t>IMPLEMENTASI REKAYASA SOLUSI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137160"/>
            <a:ext cx="259049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FFFFFF"/>
                </a:solidFill>
                <a:latin typeface="Courier New"/>
              </a:defRPr>
            </a:pPr>
            <a:r>
              <a:t>REF: IMPL-03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0000F2"/>
          </a:solidFill>
          <a:ln>
            <a:solidFill>
              <a:srgbClr val="0000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46304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0000F2"/>
                </a:solidFill>
                <a:latin typeface="Arial"/>
              </a:defRPr>
            </a:pPr>
            <a:r>
              <a:t>PILAR 1: RE-ARSITEKTUR UX (ABILITY)</a:t>
            </a:r>
          </a:p>
          <a:p>
            <a:pPr>
              <a:spcAft>
                <a:spcPts val="400"/>
              </a:spcAft>
              <a:defRPr sz="1400" b="1">
                <a:solidFill>
                  <a:srgbClr val="0000F2"/>
                </a:solidFill>
                <a:latin typeface="Arial"/>
              </a:defRPr>
            </a:pPr>
            <a:r>
              <a:t>✔ Single-Page Guest Checkout</a:t>
            </a:r>
          </a:p>
          <a:p>
            <a:pPr>
              <a:spcAft>
                <a:spcPts val="1200"/>
              </a:spcAft>
              <a:defRPr sz="1200" b="0">
                <a:solidFill>
                  <a:srgbClr val="1A1B25"/>
                </a:solidFill>
                <a:latin typeface="Courier New"/>
              </a:defRPr>
            </a:pPr>
            <a:r>
              <a:t>Menghilangkan keharusan pendaftaran akun sebelum transaksi untuk memangkas hambatan psikologis.</a:t>
            </a:r>
          </a:p>
          <a:p>
            <a:pPr>
              <a:spcAft>
                <a:spcPts val="400"/>
              </a:spcAft>
              <a:defRPr sz="1400" b="1">
                <a:solidFill>
                  <a:srgbClr val="0000F2"/>
                </a:solidFill>
                <a:latin typeface="Arial"/>
              </a:defRPr>
            </a:pPr>
            <a:r>
              <a:t>✔ Reduksi Kolom Masukan (12 -&gt; 4)</a:t>
            </a:r>
          </a:p>
          <a:p>
            <a:pPr>
              <a:spcAft>
                <a:spcPts val="1200"/>
              </a:spcAft>
              <a:defRPr sz="1200" b="0">
                <a:solidFill>
                  <a:srgbClr val="1A1B25"/>
                </a:solidFill>
                <a:latin typeface="Courier New"/>
              </a:defRPr>
            </a:pPr>
            <a:r>
              <a:t>Hanya meminta info esensial: Nama, WhatsApp/Email, Alamat Ringkas, dan Metode Pembayaran.</a:t>
            </a:r>
          </a:p>
          <a:p>
            <a:pPr>
              <a:spcAft>
                <a:spcPts val="400"/>
              </a:spcAft>
              <a:defRPr sz="1400" b="1">
                <a:solidFill>
                  <a:srgbClr val="0000F2"/>
                </a:solidFill>
                <a:latin typeface="Arial"/>
              </a:defRPr>
            </a:pPr>
            <a:r>
              <a:t>✔ Integrasi Address Autocomplete API</a:t>
            </a:r>
          </a:p>
          <a:p>
            <a:pPr>
              <a:spcAft>
                <a:spcPts val="600"/>
              </a:spcAft>
              <a:defRPr sz="1200" b="0">
                <a:solidFill>
                  <a:srgbClr val="1A1B25"/>
                </a:solidFill>
                <a:latin typeface="Courier New"/>
              </a:defRPr>
            </a:pPr>
            <a:r>
              <a:t>Mempercepat pengisian alamat pengiriman secara otomatis.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72200" y="146304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0000F2"/>
                </a:solidFill>
                <a:latin typeface="Arial"/>
              </a:defRPr>
            </a:pPr>
            <a:r>
              <a:t>PILAR 2: MARKETING TERSEGMENTASI (PROMPT)</a:t>
            </a:r>
          </a:p>
          <a:p>
            <a:pPr>
              <a:spcAft>
                <a:spcPts val="400"/>
              </a:spcAft>
              <a:defRPr sz="1300" b="1">
                <a:solidFill>
                  <a:srgbClr val="0000F2"/>
                </a:solidFill>
                <a:latin typeface="Arial"/>
              </a:defRPr>
            </a:pPr>
            <a:r>
              <a:t>✔ TOFU (Acquisition) - Top of Funnel</a:t>
            </a:r>
          </a:p>
          <a:p>
            <a:pPr>
              <a:spcAft>
                <a:spcPts val="1000"/>
              </a:spcAft>
              <a:defRPr sz="1200" b="0">
                <a:solidFill>
                  <a:srgbClr val="1A1B25"/>
                </a:solidFill>
                <a:latin typeface="Courier New"/>
              </a:defRPr>
            </a:pPr>
            <a:r>
              <a:t>Target: Broad &amp; Lookalike (1-3%). Format: Video edukatif. Objektif: Landing Page Views.</a:t>
            </a:r>
          </a:p>
          <a:p>
            <a:pPr>
              <a:spcAft>
                <a:spcPts val="400"/>
              </a:spcAft>
              <a:defRPr sz="1300" b="1">
                <a:solidFill>
                  <a:srgbClr val="0000F2"/>
                </a:solidFill>
                <a:latin typeface="Arial"/>
              </a:defRPr>
            </a:pPr>
            <a:r>
              <a:t>✔ MOFU (Activation) - Middle of Funnel</a:t>
            </a:r>
          </a:p>
          <a:p>
            <a:pPr>
              <a:spcAft>
                <a:spcPts val="1000"/>
              </a:spcAft>
              <a:defRPr sz="1200" b="0">
                <a:solidFill>
                  <a:srgbClr val="1A1B25"/>
                </a:solidFill>
                <a:latin typeface="Courier New"/>
              </a:defRPr>
            </a:pPr>
            <a:r>
              <a:t>Target: Engaged Visitors (30 hari). Format: UGC social proof &amp; tabel komparasi. Objektif: ATC &amp; View Content.</a:t>
            </a:r>
          </a:p>
          <a:p>
            <a:pPr>
              <a:spcAft>
                <a:spcPts val="400"/>
              </a:spcAft>
              <a:defRPr sz="1300" b="1">
                <a:solidFill>
                  <a:srgbClr val="0000F2"/>
                </a:solidFill>
                <a:latin typeface="Arial"/>
              </a:defRPr>
            </a:pPr>
            <a:r>
              <a:t>✔ BOFU (Revenue) - Bottom of Funnel</a:t>
            </a:r>
          </a:p>
          <a:p>
            <a:pPr>
              <a:spcAft>
                <a:spcPts val="600"/>
              </a:spcAft>
              <a:defRPr sz="1200" b="0">
                <a:solidFill>
                  <a:srgbClr val="1A1B25"/>
                </a:solidFill>
                <a:latin typeface="Courier New"/>
              </a:defRPr>
            </a:pPr>
            <a:r>
              <a:t>Target: Cart Abandoners (7 hari). Format: Dynamic product ads + Scarcity offer. Objektif: Purchase.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00F2"/>
          </a:solidFill>
          <a:ln>
            <a:solidFill>
              <a:srgbClr val="0000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Arial"/>
              </a:defRPr>
            </a:pPr>
            <a:r>
              <a:t>HASIL EMPIRIS &amp; PERBANDINGAN METRIK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137160"/>
            <a:ext cx="259049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FFFFFF"/>
                </a:solidFill>
                <a:latin typeface="Courier New"/>
              </a:defRPr>
            </a:pPr>
            <a:r>
              <a:t>REF: RESULT-04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0000F2"/>
          </a:solidFill>
          <a:ln>
            <a:solidFill>
              <a:srgbClr val="0000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5800" y="1645920"/>
          <a:ext cx="1081918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1904695"/>
                <a:gridCol w="1904695"/>
                <a:gridCol w="1904695"/>
                <a:gridCol w="1904695"/>
              </a:tblGrid>
              <a:tr h="58782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METRIK PERFORMA KUNCI</a:t>
                      </a:r>
                    </a:p>
                  </a:txBody>
                  <a:tcPr>
                    <a:solidFill>
                      <a:srgbClr val="0000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BASELINE (PRA)</a:t>
                      </a:r>
                    </a:p>
                  </a:txBody>
                  <a:tcPr>
                    <a:solidFill>
                      <a:srgbClr val="0000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PASCA (DGTLZ)</a:t>
                      </a:r>
                    </a:p>
                  </a:txBody>
                  <a:tcPr>
                    <a:solidFill>
                      <a:srgbClr val="0000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DELTA ABSOLUTE</a:t>
                      </a:r>
                    </a:p>
                  </a:txBody>
                  <a:tcPr>
                    <a:solidFill>
                      <a:srgbClr val="0000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PERUBAHAN (%)</a:t>
                      </a:r>
                    </a:p>
                  </a:txBody>
                  <a:tcPr>
                    <a:solidFill>
                      <a:srgbClr val="0000F2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1200" b="1">
                          <a:solidFill>
                            <a:srgbClr val="1A1B25"/>
                          </a:solidFill>
                          <a:latin typeface="Arial"/>
                        </a:defRPr>
                      </a:pPr>
                      <a:r>
                        <a:t>Conversion Rate (CR)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defRPr sz="1100" b="0">
                          <a:solidFill>
                            <a:srgbClr val="1A1B25"/>
                          </a:solidFill>
                          <a:latin typeface="Courier New"/>
                        </a:defRPr>
                      </a:pPr>
                      <a:r>
                        <a:t>1,20%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defRPr sz="1100" b="0">
                          <a:solidFill>
                            <a:srgbClr val="1A1B25"/>
                          </a:solidFill>
                          <a:latin typeface="Courier New"/>
                        </a:defRPr>
                      </a:pPr>
                      <a:r>
                        <a:t>3,40%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defRPr sz="1100" b="0">
                          <a:solidFill>
                            <a:srgbClr val="1A1B25"/>
                          </a:solidFill>
                          <a:latin typeface="Courier New"/>
                        </a:defRPr>
                      </a:pPr>
                      <a:r>
                        <a:t>+2,20%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defRPr sz="1100" b="1">
                          <a:solidFill>
                            <a:srgbClr val="0000F2"/>
                          </a:solidFill>
                          <a:latin typeface="Courier New"/>
                        </a:defRPr>
                      </a:pPr>
                      <a:r>
                        <a:t>+183,3%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1200" b="1">
                          <a:solidFill>
                            <a:srgbClr val="1A1B25"/>
                          </a:solidFill>
                          <a:latin typeface="Arial"/>
                        </a:defRPr>
                      </a:pPr>
                      <a:r>
                        <a:t>Cart Abandonment Rate</a:t>
                      </a:r>
                    </a:p>
                  </a:txBody>
                  <a:tcPr>
                    <a:solidFill>
                      <a:srgbClr val="EBEB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defRPr sz="1100" b="0">
                          <a:solidFill>
                            <a:srgbClr val="1A1B25"/>
                          </a:solidFill>
                          <a:latin typeface="Courier New"/>
                        </a:defRPr>
                      </a:pPr>
                      <a:r>
                        <a:t>78,0%</a:t>
                      </a:r>
                    </a:p>
                  </a:txBody>
                  <a:tcPr>
                    <a:solidFill>
                      <a:srgbClr val="EBEB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defRPr sz="1100" b="0">
                          <a:solidFill>
                            <a:srgbClr val="1A1B25"/>
                          </a:solidFill>
                          <a:latin typeface="Courier New"/>
                        </a:defRPr>
                      </a:pPr>
                      <a:r>
                        <a:t>42,0%</a:t>
                      </a:r>
                    </a:p>
                  </a:txBody>
                  <a:tcPr>
                    <a:solidFill>
                      <a:srgbClr val="EBEB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defRPr sz="1100" b="0">
                          <a:solidFill>
                            <a:srgbClr val="1A1B25"/>
                          </a:solidFill>
                          <a:latin typeface="Courier New"/>
                        </a:defRPr>
                      </a:pPr>
                      <a:r>
                        <a:t>-36,0%</a:t>
                      </a:r>
                    </a:p>
                  </a:txBody>
                  <a:tcPr>
                    <a:solidFill>
                      <a:srgbClr val="EBEB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defRPr sz="1100" b="1">
                          <a:solidFill>
                            <a:srgbClr val="0000F2"/>
                          </a:solidFill>
                          <a:latin typeface="Courier New"/>
                        </a:defRPr>
                      </a:pPr>
                      <a:r>
                        <a:t>-46,1%</a:t>
                      </a:r>
                    </a:p>
                  </a:txBody>
                  <a:tcPr>
                    <a:solidFill>
                      <a:srgbClr val="EBEBFF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1200" b="1">
                          <a:solidFill>
                            <a:srgbClr val="1A1B25"/>
                          </a:solidFill>
                          <a:latin typeface="Arial"/>
                        </a:defRPr>
                      </a:pPr>
                      <a:r>
                        <a:t>Customer Acquisition Cost (CAC)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defRPr sz="1100" b="0">
                          <a:solidFill>
                            <a:srgbClr val="1A1B25"/>
                          </a:solidFill>
                          <a:latin typeface="Courier New"/>
                        </a:defRPr>
                      </a:pPr>
                      <a:r>
                        <a:t>Rp 150.000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defRPr sz="1100" b="0">
                          <a:solidFill>
                            <a:srgbClr val="1A1B25"/>
                          </a:solidFill>
                          <a:latin typeface="Courier New"/>
                        </a:defRPr>
                      </a:pPr>
                      <a:r>
                        <a:t>Rp 85.000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defRPr sz="1100" b="0">
                          <a:solidFill>
                            <a:srgbClr val="1A1B25"/>
                          </a:solidFill>
                          <a:latin typeface="Courier New"/>
                        </a:defRPr>
                      </a:pPr>
                      <a:r>
                        <a:t>-Rp 65.000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defRPr sz="1100" b="1">
                          <a:solidFill>
                            <a:srgbClr val="0000F2"/>
                          </a:solidFill>
                          <a:latin typeface="Courier New"/>
                        </a:defRPr>
                      </a:pPr>
                      <a:r>
                        <a:t>-43,3%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1200" b="1">
                          <a:solidFill>
                            <a:srgbClr val="1A1B25"/>
                          </a:solidFill>
                          <a:latin typeface="Arial"/>
                        </a:defRPr>
                      </a:pPr>
                      <a:r>
                        <a:t>Return on Ad Spend (ROAS)</a:t>
                      </a:r>
                    </a:p>
                  </a:txBody>
                  <a:tcPr>
                    <a:solidFill>
                      <a:srgbClr val="EBEB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defRPr sz="1100" b="0">
                          <a:solidFill>
                            <a:srgbClr val="1A1B25"/>
                          </a:solidFill>
                          <a:latin typeface="Courier New"/>
                        </a:defRPr>
                      </a:pPr>
                      <a:r>
                        <a:t>1,8x</a:t>
                      </a:r>
                    </a:p>
                  </a:txBody>
                  <a:tcPr>
                    <a:solidFill>
                      <a:srgbClr val="EBEB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defRPr sz="1100" b="0">
                          <a:solidFill>
                            <a:srgbClr val="1A1B25"/>
                          </a:solidFill>
                          <a:latin typeface="Courier New"/>
                        </a:defRPr>
                      </a:pPr>
                      <a:r>
                        <a:t>4,2x</a:t>
                      </a:r>
                    </a:p>
                  </a:txBody>
                  <a:tcPr>
                    <a:solidFill>
                      <a:srgbClr val="EBEB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defRPr sz="1100" b="0">
                          <a:solidFill>
                            <a:srgbClr val="1A1B25"/>
                          </a:solidFill>
                          <a:latin typeface="Courier New"/>
                        </a:defRPr>
                      </a:pPr>
                      <a:r>
                        <a:t>+2,4x</a:t>
                      </a:r>
                    </a:p>
                  </a:txBody>
                  <a:tcPr>
                    <a:solidFill>
                      <a:srgbClr val="EBEB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defRPr sz="1100" b="1">
                          <a:solidFill>
                            <a:srgbClr val="0000F2"/>
                          </a:solidFill>
                          <a:latin typeface="Courier New"/>
                        </a:defRPr>
                      </a:pPr>
                      <a:r>
                        <a:t>+133,3%</a:t>
                      </a:r>
                    </a:p>
                  </a:txBody>
                  <a:tcPr>
                    <a:solidFill>
                      <a:srgbClr val="EBEBFF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1200" b="1">
                          <a:solidFill>
                            <a:srgbClr val="1A1B25"/>
                          </a:solidFill>
                          <a:latin typeface="Arial"/>
                        </a:defRPr>
                      </a:pPr>
                      <a:r>
                        <a:t>Average Order Value (AOV)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defRPr sz="1100" b="0">
                          <a:solidFill>
                            <a:srgbClr val="1A1B25"/>
                          </a:solidFill>
                          <a:latin typeface="Courier New"/>
                        </a:defRPr>
                      </a:pPr>
                      <a:r>
                        <a:t>Rp 320.000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defRPr sz="1100" b="0">
                          <a:solidFill>
                            <a:srgbClr val="1A1B25"/>
                          </a:solidFill>
                          <a:latin typeface="Courier New"/>
                        </a:defRPr>
                      </a:pPr>
                      <a:r>
                        <a:t>Rp 385.000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defRPr sz="1100" b="0">
                          <a:solidFill>
                            <a:srgbClr val="1A1B25"/>
                          </a:solidFill>
                          <a:latin typeface="Courier New"/>
                        </a:defRPr>
                      </a:pPr>
                      <a:r>
                        <a:t>+Rp 65.000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defRPr sz="1100" b="1">
                          <a:solidFill>
                            <a:srgbClr val="0000F2"/>
                          </a:solidFill>
                          <a:latin typeface="Courier New"/>
                        </a:defRPr>
                      </a:pPr>
                      <a:r>
                        <a:t>+20,3%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7832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1200" b="1">
                          <a:solidFill>
                            <a:srgbClr val="1A1B25"/>
                          </a:solidFill>
                          <a:latin typeface="Arial"/>
                        </a:defRPr>
                      </a:pPr>
                      <a:r>
                        <a:t>Page Load Speed (Mobile)</a:t>
                      </a:r>
                    </a:p>
                  </a:txBody>
                  <a:tcPr>
                    <a:solidFill>
                      <a:srgbClr val="EBEB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defRPr sz="1100" b="0">
                          <a:solidFill>
                            <a:srgbClr val="1A1B25"/>
                          </a:solidFill>
                          <a:latin typeface="Courier New"/>
                        </a:defRPr>
                      </a:pPr>
                      <a:r>
                        <a:t>4,8 Detik</a:t>
                      </a:r>
                    </a:p>
                  </a:txBody>
                  <a:tcPr>
                    <a:solidFill>
                      <a:srgbClr val="EBEB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defRPr sz="1100" b="0">
                          <a:solidFill>
                            <a:srgbClr val="1A1B25"/>
                          </a:solidFill>
                          <a:latin typeface="Courier New"/>
                        </a:defRPr>
                      </a:pPr>
                      <a:r>
                        <a:t>1,4 Detik</a:t>
                      </a:r>
                    </a:p>
                  </a:txBody>
                  <a:tcPr>
                    <a:solidFill>
                      <a:srgbClr val="EBEB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defRPr sz="1100" b="0">
                          <a:solidFill>
                            <a:srgbClr val="1A1B25"/>
                          </a:solidFill>
                          <a:latin typeface="Courier New"/>
                        </a:defRPr>
                      </a:pPr>
                      <a:r>
                        <a:t>-3,4 Detik</a:t>
                      </a:r>
                    </a:p>
                  </a:txBody>
                  <a:tcPr>
                    <a:solidFill>
                      <a:srgbClr val="EBEB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defRPr sz="1100" b="1">
                          <a:solidFill>
                            <a:srgbClr val="0000F2"/>
                          </a:solidFill>
                          <a:latin typeface="Courier New"/>
                        </a:defRPr>
                      </a:pPr>
                      <a:r>
                        <a:t>-70,8%</a:t>
                      </a:r>
                    </a:p>
                  </a:txBody>
                  <a:tcPr>
                    <a:solidFill>
                      <a:srgbClr val="EBEB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00F2"/>
          </a:solidFill>
          <a:ln>
            <a:solidFill>
              <a:srgbClr val="0000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Arial"/>
              </a:defRPr>
            </a:pPr>
            <a:r>
              <a:t>ANALISIS STATISTIK &amp; KESIMPULAN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137160"/>
            <a:ext cx="259049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FFFFFF"/>
                </a:solidFill>
                <a:latin typeface="Courier New"/>
              </a:defRPr>
            </a:pPr>
            <a:r>
              <a:t>REF: CONCL-05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0000F2"/>
          </a:solidFill>
          <a:ln>
            <a:solidFill>
              <a:srgbClr val="0000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46304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0000F2"/>
                </a:solidFill>
                <a:latin typeface="Arial"/>
              </a:defRPr>
            </a:pPr>
            <a:r>
              <a:t>SIGNIFIKANSI STATISTIK (UJI CHI-SQUARE)</a:t>
            </a:r>
          </a:p>
          <a:p>
            <a:pPr>
              <a:spcAft>
                <a:spcPts val="1200"/>
              </a:spcAft>
              <a:defRPr sz="1300" b="0">
                <a:solidFill>
                  <a:srgbClr val="1A1B25"/>
                </a:solidFill>
                <a:latin typeface="Courier New"/>
              </a:defRPr>
            </a:pPr>
            <a:r>
              <a:t>Untuk mengeliminasi faktor kebetulan (random variation), dilakukan uji independensi Chi-Square terhadap hasil konversi akhir: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2926080"/>
            <a:ext cx="5029200" cy="109728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400" b="1">
                <a:solidFill>
                  <a:srgbClr val="0000F2"/>
                </a:solidFill>
                <a:latin typeface="Courier New"/>
              </a:defRPr>
            </a:pPr>
            <a:r>
              <a:t>X^2 = 342.18,  (df = 1,  p &lt; 0.001)</a:t>
            </a:r>
          </a:p>
          <a:p>
            <a:pPr algn="ctr">
              <a:spcAft>
                <a:spcPts val="600"/>
              </a:spcAft>
              <a:defRPr sz="1100" b="0">
                <a:solidFill>
                  <a:srgbClr val="1A1B25"/>
                </a:solidFill>
                <a:latin typeface="Arial"/>
              </a:defRPr>
            </a:pPr>
            <a:r>
              <a:t>Hipotesis Nol Ditolak (Tingkat Kepercayaan 99.9%)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420624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1A1B25"/>
                </a:solidFill>
                <a:latin typeface="Courier New"/>
              </a:defRPr>
            </a:pPr>
            <a:r>
              <a:t>Intervensi rekayasa antarmuka (Ability) terbukti secara kausal meningkatkan konversi secara signifikan, membuktikan sinergi erat dengan kampanye pemasaran (Prompt).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72200" y="146304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0000F2"/>
                </a:solidFill>
                <a:latin typeface="Arial"/>
              </a:defRPr>
            </a:pPr>
            <a:r>
              <a:t>REKOMENDASI STRATEGIS</a:t>
            </a:r>
          </a:p>
          <a:p>
            <a:pPr>
              <a:spcAft>
                <a:spcPts val="400"/>
              </a:spcAft>
              <a:defRPr sz="1300" b="1">
                <a:solidFill>
                  <a:srgbClr val="0000F2"/>
                </a:solidFill>
                <a:latin typeface="Arial"/>
              </a:defRPr>
            </a:pPr>
            <a:r>
              <a:t>1. Lakukan Friction Audit Secara Berkala</a:t>
            </a:r>
          </a:p>
          <a:p>
            <a:pPr>
              <a:spcAft>
                <a:spcPts val="1200"/>
              </a:spcAft>
              <a:defRPr sz="1200" b="0">
                <a:solidFill>
                  <a:srgbClr val="1A1B25"/>
                </a:solidFill>
                <a:latin typeface="Courier New"/>
              </a:defRPr>
            </a:pPr>
            <a:r>
              <a:t>Identifikasi setiap kolom input dan langkah interaksi yang dapat dipangkas dari alur kritis transaksi.</a:t>
            </a:r>
          </a:p>
          <a:p>
            <a:pPr>
              <a:spcAft>
                <a:spcPts val="400"/>
              </a:spcAft>
              <a:defRPr sz="1300" b="1">
                <a:solidFill>
                  <a:srgbClr val="0000F2"/>
                </a:solidFill>
                <a:latin typeface="Arial"/>
              </a:defRPr>
            </a:pPr>
            <a:r>
              <a:t>2. Selaraskan Targeting Iklan dengan Mental Pengguna</a:t>
            </a:r>
          </a:p>
          <a:p>
            <a:pPr>
              <a:spcAft>
                <a:spcPts val="1200"/>
              </a:spcAft>
              <a:defRPr sz="1200" b="0">
                <a:solidFill>
                  <a:srgbClr val="1A1B25"/>
                </a:solidFill>
                <a:latin typeface="Courier New"/>
              </a:defRPr>
            </a:pPr>
            <a:r>
              <a:t>Jangan memaksakan penawaran langsung (Direct Response) pada audiens di tahap Awareness tanpa membina Activation terlebih dahulu.</a:t>
            </a:r>
          </a:p>
          <a:p>
            <a:pPr>
              <a:spcAft>
                <a:spcPts val="400"/>
              </a:spcAft>
              <a:defRPr sz="1300" b="1">
                <a:solidFill>
                  <a:srgbClr val="0000F2"/>
                </a:solidFill>
                <a:latin typeface="Arial"/>
              </a:defRPr>
            </a:pPr>
            <a:r>
              <a:t>3. Terapkan Budaya A/B Testing Berketerusan</a:t>
            </a:r>
          </a:p>
          <a:p>
            <a:pPr>
              <a:spcAft>
                <a:spcPts val="600"/>
              </a:spcAft>
              <a:defRPr sz="1200" b="0">
                <a:solidFill>
                  <a:srgbClr val="1A1B25"/>
                </a:solidFill>
                <a:latin typeface="Courier New"/>
              </a:defRPr>
            </a:pPr>
            <a:r>
              <a:t>Setiap keputusan perubahan desain antarmuka atau pesan promosi harus divalidasi oleh uji signifikansi statistik empiris.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